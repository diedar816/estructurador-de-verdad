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1"/>
  </p:notesMasterIdLst>
  <p:sldIdLst>
    <p:sldId id="258" r:id="rId2"/>
    <p:sldId id="259" r:id="rId3"/>
    <p:sldId id="395" r:id="rId4"/>
    <p:sldId id="260" r:id="rId5"/>
    <p:sldId id="402" r:id="rId6"/>
    <p:sldId id="403" r:id="rId7"/>
    <p:sldId id="404" r:id="rId8"/>
    <p:sldId id="401" r:id="rId9"/>
    <p:sldId id="265" r:id="rId1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426" y="9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45705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4c73940b32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Google Shape;23;g34c73940b32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260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4c73940b32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4c73940b32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1357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D7C1C-27A8-356E-FF71-A785BD653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DEF2F6-72E6-9A32-0F2C-0DCFA1451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351ED4E-463F-6028-476D-0233E34FD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96685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4c73940b32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4c73940b32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5042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>
          <a:extLst>
            <a:ext uri="{FF2B5EF4-FFF2-40B4-BE49-F238E27FC236}">
              <a16:creationId xmlns:a16="http://schemas.microsoft.com/office/drawing/2014/main" id="{FD798BD7-0F8B-E515-013E-160C41CA7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4c73940b32_1_41:notes">
            <a:extLst>
              <a:ext uri="{FF2B5EF4-FFF2-40B4-BE49-F238E27FC236}">
                <a16:creationId xmlns:a16="http://schemas.microsoft.com/office/drawing/2014/main" id="{1F249787-9594-5C99-BCB2-EE80C64987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4c73940b32_1_41:notes">
            <a:extLst>
              <a:ext uri="{FF2B5EF4-FFF2-40B4-BE49-F238E27FC236}">
                <a16:creationId xmlns:a16="http://schemas.microsoft.com/office/drawing/2014/main" id="{7B3ACD96-A136-359C-E93D-4A15F065DE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2448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>
          <a:extLst>
            <a:ext uri="{FF2B5EF4-FFF2-40B4-BE49-F238E27FC236}">
              <a16:creationId xmlns:a16="http://schemas.microsoft.com/office/drawing/2014/main" id="{1E061686-5DAF-2666-1711-557787762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4c73940b32_1_41:notes">
            <a:extLst>
              <a:ext uri="{FF2B5EF4-FFF2-40B4-BE49-F238E27FC236}">
                <a16:creationId xmlns:a16="http://schemas.microsoft.com/office/drawing/2014/main" id="{F52F586B-DC86-D603-3709-0B2F02983C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4c73940b32_1_41:notes">
            <a:extLst>
              <a:ext uri="{FF2B5EF4-FFF2-40B4-BE49-F238E27FC236}">
                <a16:creationId xmlns:a16="http://schemas.microsoft.com/office/drawing/2014/main" id="{3A6BB15E-C0FF-4871-8328-4B5EBCEF7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3639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>
          <a:extLst>
            <a:ext uri="{FF2B5EF4-FFF2-40B4-BE49-F238E27FC236}">
              <a16:creationId xmlns:a16="http://schemas.microsoft.com/office/drawing/2014/main" id="{453EE5FD-D37C-DC51-19F9-1A9CF9B41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4c73940b32_1_41:notes">
            <a:extLst>
              <a:ext uri="{FF2B5EF4-FFF2-40B4-BE49-F238E27FC236}">
                <a16:creationId xmlns:a16="http://schemas.microsoft.com/office/drawing/2014/main" id="{AFDCAC3E-2C95-E92F-A60B-6624922A52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4c73940b32_1_41:notes">
            <a:extLst>
              <a:ext uri="{FF2B5EF4-FFF2-40B4-BE49-F238E27FC236}">
                <a16:creationId xmlns:a16="http://schemas.microsoft.com/office/drawing/2014/main" id="{84400365-4495-0118-5361-066C1B5F3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3240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27CC3-0B0A-4767-672D-D4D6EECE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0C11489-0A64-BA2B-102C-963E927C4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6D967A-C2BF-2388-961A-874147357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926323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c73940b32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c73940b32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753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EB342-026B-490D-B6A1-D05E88DBB653}" type="datetimeFigureOut">
              <a:rPr lang="es-CO" smtClean="0"/>
              <a:t>9/03/2026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C5081-3051-4AA8-AF1C-E3B7117E59F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19085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/>
        </p:nvSpPr>
        <p:spPr>
          <a:xfrm>
            <a:off x="658992" y="880815"/>
            <a:ext cx="4620900" cy="12486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SECCION DE ANALISIS CRIMINAL</a:t>
            </a:r>
            <a:endParaRPr sz="22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" name="Google Shape;26;p6"/>
          <p:cNvCxnSpPr/>
          <p:nvPr/>
        </p:nvCxnSpPr>
        <p:spPr>
          <a:xfrm rot="10800000">
            <a:off x="792375" y="2385650"/>
            <a:ext cx="22332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Google Shape;27;p6"/>
          <p:cNvSpPr txBox="1"/>
          <p:nvPr/>
        </p:nvSpPr>
        <p:spPr>
          <a:xfrm>
            <a:off x="741006" y="2365232"/>
            <a:ext cx="26073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Sección de Análisis Criminal SAC - Bogotá</a:t>
            </a:r>
            <a:endParaRPr sz="13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32;p7"/>
          <p:cNvCxnSpPr/>
          <p:nvPr/>
        </p:nvCxnSpPr>
        <p:spPr>
          <a:xfrm>
            <a:off x="715575" y="1464775"/>
            <a:ext cx="0" cy="3027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Google Shape;33;p7"/>
          <p:cNvSpPr txBox="1"/>
          <p:nvPr/>
        </p:nvSpPr>
        <p:spPr>
          <a:xfrm>
            <a:off x="778692" y="1377990"/>
            <a:ext cx="514559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SECCIÓN DE ANÁLISIS CRIMINAL</a:t>
            </a:r>
            <a:endParaRPr sz="2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7"/>
          <p:cNvSpPr txBox="1"/>
          <p:nvPr/>
        </p:nvSpPr>
        <p:spPr>
          <a:xfrm>
            <a:off x="789598" y="1669423"/>
            <a:ext cx="2607300" cy="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Bogotá, 10 de marzo de 2026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7AC94-A52D-7B80-0EE9-52472E0E5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Elipse 149">
            <a:extLst>
              <a:ext uri="{FF2B5EF4-FFF2-40B4-BE49-F238E27FC236}">
                <a16:creationId xmlns:a16="http://schemas.microsoft.com/office/drawing/2014/main" id="{0FACBBC0-FA70-5CC1-3453-D2A19020306F}"/>
              </a:ext>
            </a:extLst>
          </p:cNvPr>
          <p:cNvSpPr/>
          <p:nvPr/>
        </p:nvSpPr>
        <p:spPr>
          <a:xfrm>
            <a:off x="-1818407" y="5025664"/>
            <a:ext cx="70793" cy="70793"/>
          </a:xfrm>
          <a:prstGeom prst="ellipse">
            <a:avLst/>
          </a:prstGeom>
          <a:gradFill>
            <a:gsLst>
              <a:gs pos="0">
                <a:srgbClr val="92D050"/>
              </a:gs>
              <a:gs pos="95000">
                <a:srgbClr val="C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>
              <a:solidFill>
                <a:prstClr val="white"/>
              </a:solidFill>
            </a:endParaRPr>
          </a:p>
        </p:txBody>
      </p:sp>
      <p:sp>
        <p:nvSpPr>
          <p:cNvPr id="8" name="Google Shape;39;p8">
            <a:extLst>
              <a:ext uri="{FF2B5EF4-FFF2-40B4-BE49-F238E27FC236}">
                <a16:creationId xmlns:a16="http://schemas.microsoft.com/office/drawing/2014/main" id="{9700E591-87F2-F522-1794-8EE1B309026D}"/>
              </a:ext>
            </a:extLst>
          </p:cNvPr>
          <p:cNvSpPr txBox="1"/>
          <p:nvPr/>
        </p:nvSpPr>
        <p:spPr>
          <a:xfrm>
            <a:off x="1973274" y="341925"/>
            <a:ext cx="6050263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 b="1" dirty="0">
                <a:solidFill>
                  <a:srgbClr val="00385F"/>
                </a:solidFill>
                <a:latin typeface="Montserrat"/>
                <a:ea typeface="Montserrat"/>
                <a:cs typeface="Montserrat"/>
                <a:sym typeface="Montserrat"/>
              </a:rPr>
              <a:t>PERSONAL SAC BOGOTA</a:t>
            </a:r>
            <a:endParaRPr sz="2200" b="1" dirty="0">
              <a:solidFill>
                <a:srgbClr val="00385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0;p8">
            <a:extLst>
              <a:ext uri="{FF2B5EF4-FFF2-40B4-BE49-F238E27FC236}">
                <a16:creationId xmlns:a16="http://schemas.microsoft.com/office/drawing/2014/main" id="{DD857542-ADBE-EB8E-F549-4B6102398F64}"/>
              </a:ext>
            </a:extLst>
          </p:cNvPr>
          <p:cNvSpPr txBox="1"/>
          <p:nvPr/>
        </p:nvSpPr>
        <p:spPr>
          <a:xfrm>
            <a:off x="1973275" y="668400"/>
            <a:ext cx="3545322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rgbClr val="017B8F"/>
                </a:solidFill>
                <a:latin typeface="Montserrat"/>
                <a:ea typeface="Montserrat"/>
                <a:cs typeface="Montserrat"/>
                <a:sym typeface="Montserrat"/>
              </a:rPr>
              <a:t>Sección de Análisis Criminal</a:t>
            </a:r>
            <a:endParaRPr sz="1800" dirty="0">
              <a:solidFill>
                <a:srgbClr val="017B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0D403128-729F-3E8D-F80E-EE8E67EECACB}"/>
              </a:ext>
            </a:extLst>
          </p:cNvPr>
          <p:cNvGrpSpPr/>
          <p:nvPr/>
        </p:nvGrpSpPr>
        <p:grpSpPr>
          <a:xfrm>
            <a:off x="2087052" y="1133766"/>
            <a:ext cx="2204937" cy="1105247"/>
            <a:chOff x="6225993" y="854356"/>
            <a:chExt cx="2338241" cy="1171560"/>
          </a:xfrm>
        </p:grpSpPr>
        <p:sp>
          <p:nvSpPr>
            <p:cNvPr id="62" name="TextBox 188">
              <a:extLst>
                <a:ext uri="{FF2B5EF4-FFF2-40B4-BE49-F238E27FC236}">
                  <a16:creationId xmlns:a16="http://schemas.microsoft.com/office/drawing/2014/main" id="{BA9E7EC1-4BA1-99C4-B06C-9AE03F928814}"/>
                </a:ext>
              </a:extLst>
            </p:cNvPr>
            <p:cNvSpPr txBox="1"/>
            <p:nvPr/>
          </p:nvSpPr>
          <p:spPr>
            <a:xfrm>
              <a:off x="6232386" y="1241086"/>
              <a:ext cx="2331848" cy="78483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s-ES" sz="4500" b="1" dirty="0">
                  <a:solidFill>
                    <a:srgbClr val="6CE5E8"/>
                  </a:solidFill>
                  <a:latin typeface="Century Gothic" panose="020B0502020202020204" pitchFamily="34" charset="0"/>
                </a:rPr>
                <a:t>     </a:t>
              </a:r>
              <a:r>
                <a:rPr lang="es-ES" sz="4500" b="1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</a:rPr>
                <a:t>30</a:t>
              </a:r>
              <a:endParaRPr lang="es-ES" sz="4500" b="1" spc="45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63" name="CuadroTexto 9">
              <a:extLst>
                <a:ext uri="{FF2B5EF4-FFF2-40B4-BE49-F238E27FC236}">
                  <a16:creationId xmlns:a16="http://schemas.microsoft.com/office/drawing/2014/main" id="{2431D711-F9F9-1F7A-785A-28A32400759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225993" y="854356"/>
              <a:ext cx="2331848" cy="369332"/>
            </a:xfrm>
            <a:prstGeom prst="rect">
              <a:avLst/>
            </a:prstGeom>
            <a:ln w="6350"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68580" rIns="0" bIns="6858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r>
                <a:rPr lang="es-ES_tradnl" altLang="es-CO" sz="1500" b="1" dirty="0">
                  <a:solidFill>
                    <a:srgbClr val="242752"/>
                  </a:solidFill>
                  <a:latin typeface="Century Gothic" panose="020B0502020202020204" pitchFamily="34" charset="0"/>
                  <a:ea typeface="Century Gothic" panose="020B0502020202020204" pitchFamily="34" charset="0"/>
                  <a:cs typeface="Century Gothic" panose="020B0502020202020204" pitchFamily="34" charset="0"/>
                </a:rPr>
                <a:t>GRUPO DE ANALISTAS</a:t>
              </a:r>
            </a:p>
          </p:txBody>
        </p:sp>
        <p:pic>
          <p:nvPicPr>
            <p:cNvPr id="2050" name="Picture 2" descr="Análisis de negocios silueta arte vectorial ilustración diseño de iconos |  Vector Premium">
              <a:extLst>
                <a:ext uri="{FF2B5EF4-FFF2-40B4-BE49-F238E27FC236}">
                  <a16:creationId xmlns:a16="http://schemas.microsoft.com/office/drawing/2014/main" id="{4A1F0D61-B3DB-CA3E-24AB-2A8D56DE91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32386" y="1246283"/>
              <a:ext cx="779633" cy="779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6" name="Grupo 135">
            <a:extLst>
              <a:ext uri="{FF2B5EF4-FFF2-40B4-BE49-F238E27FC236}">
                <a16:creationId xmlns:a16="http://schemas.microsoft.com/office/drawing/2014/main" id="{08AC54FD-7D91-FC26-6556-CA6665CE1A6C}"/>
              </a:ext>
            </a:extLst>
          </p:cNvPr>
          <p:cNvGrpSpPr/>
          <p:nvPr/>
        </p:nvGrpSpPr>
        <p:grpSpPr>
          <a:xfrm>
            <a:off x="4285960" y="2255426"/>
            <a:ext cx="2198909" cy="1064104"/>
            <a:chOff x="1866410" y="3565602"/>
            <a:chExt cx="2331848" cy="1127949"/>
          </a:xfrm>
        </p:grpSpPr>
        <p:sp>
          <p:nvSpPr>
            <p:cNvPr id="128" name="TextBox 188">
              <a:extLst>
                <a:ext uri="{FF2B5EF4-FFF2-40B4-BE49-F238E27FC236}">
                  <a16:creationId xmlns:a16="http://schemas.microsoft.com/office/drawing/2014/main" id="{F446B3E4-9852-5D34-B87D-359482121094}"/>
                </a:ext>
              </a:extLst>
            </p:cNvPr>
            <p:cNvSpPr txBox="1"/>
            <p:nvPr/>
          </p:nvSpPr>
          <p:spPr>
            <a:xfrm>
              <a:off x="1866410" y="3908721"/>
              <a:ext cx="2331848" cy="78483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s-ES" sz="4500" b="1" dirty="0">
                  <a:solidFill>
                    <a:srgbClr val="6CE5E8"/>
                  </a:solidFill>
                  <a:latin typeface="Century Gothic" panose="020B0502020202020204" pitchFamily="34" charset="0"/>
                </a:rPr>
                <a:t>     </a:t>
              </a:r>
              <a:r>
                <a:rPr lang="es-ES" sz="4500" b="1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</a:rPr>
                <a:t>07</a:t>
              </a:r>
              <a:endParaRPr lang="es-ES" sz="4500" b="1" spc="45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29" name="CuadroTexto 9">
              <a:extLst>
                <a:ext uri="{FF2B5EF4-FFF2-40B4-BE49-F238E27FC236}">
                  <a16:creationId xmlns:a16="http://schemas.microsoft.com/office/drawing/2014/main" id="{DE262359-9CD7-5E29-80A5-D2E4E951303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866410" y="3565602"/>
              <a:ext cx="2331848" cy="323165"/>
            </a:xfrm>
            <a:prstGeom prst="rect">
              <a:avLst/>
            </a:prstGeom>
            <a:ln w="6350"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68580" rIns="0" bIns="6858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r>
                <a:rPr lang="es-ES_tradnl" altLang="es-CO" sz="1200" b="1" dirty="0">
                  <a:solidFill>
                    <a:srgbClr val="242752"/>
                  </a:solidFill>
                  <a:latin typeface="Century Gothic" panose="020B0502020202020204" pitchFamily="34" charset="0"/>
                  <a:ea typeface="Century Gothic" panose="020B0502020202020204" pitchFamily="34" charset="0"/>
                  <a:cs typeface="Century Gothic" panose="020B0502020202020204" pitchFamily="34" charset="0"/>
                </a:rPr>
                <a:t>GRUPO GEST. INFORMACIÓN</a:t>
              </a:r>
            </a:p>
          </p:txBody>
        </p:sp>
        <p:pic>
          <p:nvPicPr>
            <p:cNvPr id="2052" name="Picture 4" descr="Imágenes de Silueta gestion - Descarga gratuita en Freepik">
              <a:extLst>
                <a:ext uri="{FF2B5EF4-FFF2-40B4-BE49-F238E27FC236}">
                  <a16:creationId xmlns:a16="http://schemas.microsoft.com/office/drawing/2014/main" id="{9738E7AD-5C67-75D5-033C-42E59D64BA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0587" y="3904257"/>
              <a:ext cx="783611" cy="7836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26050286-0B5E-EBB3-DC3E-9FEE2A2A034A}"/>
              </a:ext>
            </a:extLst>
          </p:cNvPr>
          <p:cNvGrpSpPr/>
          <p:nvPr/>
        </p:nvGrpSpPr>
        <p:grpSpPr>
          <a:xfrm>
            <a:off x="6489453" y="3323742"/>
            <a:ext cx="2204939" cy="1105246"/>
            <a:chOff x="4342987" y="3770187"/>
            <a:chExt cx="2338243" cy="1171559"/>
          </a:xfrm>
        </p:grpSpPr>
        <p:sp>
          <p:nvSpPr>
            <p:cNvPr id="131" name="TextBox 188">
              <a:extLst>
                <a:ext uri="{FF2B5EF4-FFF2-40B4-BE49-F238E27FC236}">
                  <a16:creationId xmlns:a16="http://schemas.microsoft.com/office/drawing/2014/main" id="{2E4F2C98-AB82-6743-A1ED-3A08E787E103}"/>
                </a:ext>
              </a:extLst>
            </p:cNvPr>
            <p:cNvSpPr txBox="1"/>
            <p:nvPr/>
          </p:nvSpPr>
          <p:spPr>
            <a:xfrm>
              <a:off x="4349382" y="4156916"/>
              <a:ext cx="2331848" cy="784830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>
                <a:defRPr/>
              </a:pPr>
              <a:r>
                <a:rPr lang="es-ES" sz="4500" b="1" dirty="0">
                  <a:solidFill>
                    <a:srgbClr val="6CE5E8"/>
                  </a:solidFill>
                  <a:latin typeface="Century Gothic" panose="020B0502020202020204" pitchFamily="34" charset="0"/>
                </a:rPr>
                <a:t>     </a:t>
              </a:r>
              <a:r>
                <a:rPr lang="es-ES" sz="4500" b="1" dirty="0">
                  <a:solidFill>
                    <a:schemeClr val="bg1">
                      <a:lumMod val="95000"/>
                    </a:schemeClr>
                  </a:solidFill>
                  <a:latin typeface="Century Gothic" panose="020B0502020202020204" pitchFamily="34" charset="0"/>
                </a:rPr>
                <a:t>03</a:t>
              </a:r>
              <a:endParaRPr lang="es-ES" sz="4500" b="1" spc="450" dirty="0">
                <a:solidFill>
                  <a:schemeClr val="bg1">
                    <a:lumMod val="9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32" name="CuadroTexto 9">
              <a:extLst>
                <a:ext uri="{FF2B5EF4-FFF2-40B4-BE49-F238E27FC236}">
                  <a16:creationId xmlns:a16="http://schemas.microsoft.com/office/drawing/2014/main" id="{FEFA028A-71B0-1E09-A973-D3FACA6EBC4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42987" y="3770187"/>
              <a:ext cx="2331848" cy="369332"/>
            </a:xfrm>
            <a:prstGeom prst="rect">
              <a:avLst/>
            </a:prstGeom>
            <a:ln w="6350"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0" tIns="68580" rIns="0" bIns="6858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defRPr/>
              </a:pPr>
              <a:r>
                <a:rPr lang="es-ES_tradnl" altLang="es-CO" sz="1500" b="1" dirty="0">
                  <a:solidFill>
                    <a:srgbClr val="242752"/>
                  </a:solidFill>
                  <a:latin typeface="Century Gothic" panose="020B0502020202020204" pitchFamily="34" charset="0"/>
                  <a:ea typeface="Century Gothic" panose="020B0502020202020204" pitchFamily="34" charset="0"/>
                  <a:cs typeface="Century Gothic" panose="020B0502020202020204" pitchFamily="34" charset="0"/>
                </a:rPr>
                <a:t>GRUPO VERIFICADORES</a:t>
              </a:r>
            </a:p>
          </p:txBody>
        </p:sp>
        <p:pic>
          <p:nvPicPr>
            <p:cNvPr id="2054" name="Picture 6" descr="Icono de verificación de datos personales Esquema del icono de vector de  verificación de datos personales para diseño web aislado sobre fondo blanco  | Vector Premium">
              <a:extLst>
                <a:ext uri="{FF2B5EF4-FFF2-40B4-BE49-F238E27FC236}">
                  <a16:creationId xmlns:a16="http://schemas.microsoft.com/office/drawing/2014/main" id="{5EF385E8-E4BA-A26E-D58B-3A0A42D001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8266" y="4155984"/>
              <a:ext cx="773798" cy="7737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7" name="Rounded Rectangle 6">
            <a:extLst>
              <a:ext uri="{FF2B5EF4-FFF2-40B4-BE49-F238E27FC236}">
                <a16:creationId xmlns:a16="http://schemas.microsoft.com/office/drawing/2014/main" id="{7087DD7B-A728-B3DB-D2CF-81EC09BCACE2}"/>
              </a:ext>
            </a:extLst>
          </p:cNvPr>
          <p:cNvSpPr/>
          <p:nvPr/>
        </p:nvSpPr>
        <p:spPr>
          <a:xfrm>
            <a:off x="2154902" y="2296838"/>
            <a:ext cx="1974079" cy="2270380"/>
          </a:xfrm>
          <a:prstGeom prst="roundRect">
            <a:avLst>
              <a:gd name="adj" fmla="val 923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_tradnl"/>
          </a:p>
        </p:txBody>
      </p:sp>
      <p:sp>
        <p:nvSpPr>
          <p:cNvPr id="138" name="CuadroTexto 137">
            <a:extLst>
              <a:ext uri="{FF2B5EF4-FFF2-40B4-BE49-F238E27FC236}">
                <a16:creationId xmlns:a16="http://schemas.microsoft.com/office/drawing/2014/main" id="{9148CC28-9288-2C16-8577-CDB0F9BACC92}"/>
              </a:ext>
            </a:extLst>
          </p:cNvPr>
          <p:cNvSpPr txBox="1"/>
          <p:nvPr/>
        </p:nvSpPr>
        <p:spPr>
          <a:xfrm>
            <a:off x="2422684" y="2324185"/>
            <a:ext cx="1492716" cy="2569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900" b="1" dirty="0"/>
              <a:t>Dinámicas Delictivas</a:t>
            </a:r>
            <a:endParaRPr lang="es-CO" sz="900" b="1" dirty="0"/>
          </a:p>
          <a:p>
            <a:pPr algn="ctr"/>
            <a:endParaRPr lang="es-CO" sz="600" dirty="0"/>
          </a:p>
          <a:p>
            <a:r>
              <a:rPr lang="es-CO" sz="900" dirty="0"/>
              <a:t>Hurtos</a:t>
            </a:r>
          </a:p>
          <a:p>
            <a:r>
              <a:rPr lang="es-CO" sz="900" dirty="0"/>
              <a:t>Homicidios - Feminicidios</a:t>
            </a:r>
          </a:p>
          <a:p>
            <a:r>
              <a:rPr lang="es-CO" sz="900" dirty="0"/>
              <a:t>Sexuales</a:t>
            </a:r>
          </a:p>
          <a:p>
            <a:r>
              <a:rPr lang="es-CO" sz="900" dirty="0"/>
              <a:t>Violencia Intrafamiliar</a:t>
            </a:r>
          </a:p>
          <a:p>
            <a:r>
              <a:rPr lang="es-CO" sz="900" dirty="0"/>
              <a:t>UENNA</a:t>
            </a:r>
          </a:p>
          <a:p>
            <a:r>
              <a:rPr lang="es-CO" sz="900" dirty="0"/>
              <a:t>Estafa</a:t>
            </a:r>
          </a:p>
          <a:p>
            <a:r>
              <a:rPr lang="es-CO" sz="900" dirty="0"/>
              <a:t>Administración Pública</a:t>
            </a:r>
          </a:p>
          <a:p>
            <a:r>
              <a:rPr lang="es-CO" sz="900" dirty="0"/>
              <a:t>Amenazas</a:t>
            </a:r>
          </a:p>
          <a:p>
            <a:r>
              <a:rPr lang="es-CO" sz="900" dirty="0"/>
              <a:t>Extorsión</a:t>
            </a:r>
          </a:p>
          <a:p>
            <a:r>
              <a:rPr lang="es-CO" sz="900" dirty="0"/>
              <a:t>Narcotráfico</a:t>
            </a:r>
          </a:p>
          <a:p>
            <a:r>
              <a:rPr lang="es-CO" sz="900" dirty="0" err="1"/>
              <a:t>Gelma</a:t>
            </a:r>
            <a:r>
              <a:rPr lang="es-CO" sz="900" dirty="0"/>
              <a:t> </a:t>
            </a:r>
          </a:p>
          <a:p>
            <a:r>
              <a:rPr lang="es-CO" sz="900" dirty="0"/>
              <a:t>Medio Ambiente</a:t>
            </a:r>
          </a:p>
          <a:p>
            <a:endParaRPr lang="es-CO" sz="900" dirty="0"/>
          </a:p>
          <a:p>
            <a:r>
              <a:rPr lang="es-CO" sz="900" dirty="0"/>
              <a:t>Consulta WATSON</a:t>
            </a:r>
          </a:p>
          <a:p>
            <a:endParaRPr lang="es-CO" sz="1000" dirty="0"/>
          </a:p>
          <a:p>
            <a:endParaRPr lang="es-ES" sz="1000" dirty="0"/>
          </a:p>
        </p:txBody>
      </p:sp>
      <p:sp>
        <p:nvSpPr>
          <p:cNvPr id="139" name="Rounded Rectangle 6">
            <a:extLst>
              <a:ext uri="{FF2B5EF4-FFF2-40B4-BE49-F238E27FC236}">
                <a16:creationId xmlns:a16="http://schemas.microsoft.com/office/drawing/2014/main" id="{98FFDE05-8346-057F-8BB4-C3F7E298328E}"/>
              </a:ext>
            </a:extLst>
          </p:cNvPr>
          <p:cNvSpPr/>
          <p:nvPr/>
        </p:nvSpPr>
        <p:spPr>
          <a:xfrm>
            <a:off x="4421162" y="3380906"/>
            <a:ext cx="1909710" cy="1003012"/>
          </a:xfrm>
          <a:prstGeom prst="roundRect">
            <a:avLst>
              <a:gd name="adj" fmla="val 9237"/>
            </a:avLst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_tradnl"/>
          </a:p>
        </p:txBody>
      </p:sp>
      <p:sp>
        <p:nvSpPr>
          <p:cNvPr id="140" name="CuadroTexto 139">
            <a:extLst>
              <a:ext uri="{FF2B5EF4-FFF2-40B4-BE49-F238E27FC236}">
                <a16:creationId xmlns:a16="http://schemas.microsoft.com/office/drawing/2014/main" id="{92D122A9-1EA1-0D31-217A-9836E9AEB2E2}"/>
              </a:ext>
            </a:extLst>
          </p:cNvPr>
          <p:cNvSpPr txBox="1"/>
          <p:nvPr/>
        </p:nvSpPr>
        <p:spPr>
          <a:xfrm>
            <a:off x="4561809" y="338090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CO" sz="1000" dirty="0"/>
          </a:p>
          <a:p>
            <a:endParaRPr lang="es-ES" sz="1000" dirty="0"/>
          </a:p>
        </p:txBody>
      </p: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023FA116-9550-2544-0051-2E22C496F44C}"/>
              </a:ext>
            </a:extLst>
          </p:cNvPr>
          <p:cNvSpPr txBox="1"/>
          <p:nvPr/>
        </p:nvSpPr>
        <p:spPr>
          <a:xfrm>
            <a:off x="4425682" y="3460778"/>
            <a:ext cx="199285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 dirty="0"/>
              <a:t>Monitoreo de Medios</a:t>
            </a:r>
          </a:p>
          <a:p>
            <a:r>
              <a:rPr lang="es-ES" sz="900" dirty="0"/>
              <a:t>Boletines Operativos</a:t>
            </a:r>
          </a:p>
          <a:p>
            <a:r>
              <a:rPr lang="es-ES" sz="900" dirty="0"/>
              <a:t>Matriz de Capturas y allanamientos</a:t>
            </a:r>
          </a:p>
          <a:p>
            <a:r>
              <a:rPr lang="es-ES" sz="900" dirty="0"/>
              <a:t>Hydra</a:t>
            </a:r>
          </a:p>
          <a:p>
            <a:endParaRPr lang="es-ES" sz="900" dirty="0"/>
          </a:p>
          <a:p>
            <a:r>
              <a:rPr lang="es-ES" sz="900" dirty="0"/>
              <a:t>Consulta de Bases de Datos</a:t>
            </a:r>
          </a:p>
          <a:p>
            <a:pPr algn="ctr"/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247726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/>
        </p:nvSpPr>
        <p:spPr>
          <a:xfrm>
            <a:off x="1973275" y="668400"/>
            <a:ext cx="3545322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rgbClr val="017B8F"/>
                </a:solidFill>
                <a:latin typeface="Montserrat"/>
                <a:ea typeface="Montserrat"/>
                <a:cs typeface="Montserrat"/>
                <a:sym typeface="Montserrat"/>
              </a:rPr>
              <a:t>SURVEY123</a:t>
            </a:r>
            <a:endParaRPr sz="1800" dirty="0">
              <a:solidFill>
                <a:srgbClr val="017B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39;p8">
            <a:extLst>
              <a:ext uri="{FF2B5EF4-FFF2-40B4-BE49-F238E27FC236}">
                <a16:creationId xmlns:a16="http://schemas.microsoft.com/office/drawing/2014/main" id="{655E4279-D8BA-1DB2-BF7C-B62E1EAB8BA2}"/>
              </a:ext>
            </a:extLst>
          </p:cNvPr>
          <p:cNvSpPr txBox="1"/>
          <p:nvPr/>
        </p:nvSpPr>
        <p:spPr>
          <a:xfrm>
            <a:off x="2013033" y="341086"/>
            <a:ext cx="6050263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 b="1" dirty="0">
                <a:solidFill>
                  <a:srgbClr val="00385F"/>
                </a:solidFill>
                <a:latin typeface="Montserrat"/>
                <a:ea typeface="Montserrat"/>
                <a:cs typeface="Montserrat"/>
                <a:sym typeface="Montserrat"/>
              </a:rPr>
              <a:t>USO DE LA INTELIGENCIA ARITIFICIAL</a:t>
            </a:r>
            <a:endParaRPr sz="2200" b="1" dirty="0">
              <a:solidFill>
                <a:srgbClr val="00385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2B62A5FF-7245-C18F-98C2-1CF6493CC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>
            <a:extLst>
              <a:ext uri="{FF2B5EF4-FFF2-40B4-BE49-F238E27FC236}">
                <a16:creationId xmlns:a16="http://schemas.microsoft.com/office/drawing/2014/main" id="{C4A1A84D-EFE5-DC47-7410-D2B006F6FDA1}"/>
              </a:ext>
            </a:extLst>
          </p:cNvPr>
          <p:cNvSpPr txBox="1"/>
          <p:nvPr/>
        </p:nvSpPr>
        <p:spPr>
          <a:xfrm>
            <a:off x="1973275" y="668400"/>
            <a:ext cx="3545322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rgbClr val="017B8F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endParaRPr sz="1800" dirty="0">
              <a:solidFill>
                <a:srgbClr val="017B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39;p8">
            <a:extLst>
              <a:ext uri="{FF2B5EF4-FFF2-40B4-BE49-F238E27FC236}">
                <a16:creationId xmlns:a16="http://schemas.microsoft.com/office/drawing/2014/main" id="{165E9F6B-A143-007B-0495-EEA50B249BE8}"/>
              </a:ext>
            </a:extLst>
          </p:cNvPr>
          <p:cNvSpPr txBox="1"/>
          <p:nvPr/>
        </p:nvSpPr>
        <p:spPr>
          <a:xfrm>
            <a:off x="2013033" y="341086"/>
            <a:ext cx="6050263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 b="1" dirty="0">
                <a:solidFill>
                  <a:srgbClr val="00385F"/>
                </a:solidFill>
                <a:latin typeface="Montserrat"/>
                <a:ea typeface="Montserrat"/>
                <a:cs typeface="Montserrat"/>
                <a:sym typeface="Montserrat"/>
              </a:rPr>
              <a:t>ANALISIS DE DATOS</a:t>
            </a:r>
            <a:endParaRPr sz="2200" b="1" dirty="0">
              <a:solidFill>
                <a:srgbClr val="00385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BFB76C-116C-FFDF-AA5D-7655FB510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129" y="1427414"/>
            <a:ext cx="5598323" cy="33465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7291038-643A-37E8-219F-BF2B03601702}"/>
              </a:ext>
            </a:extLst>
          </p:cNvPr>
          <p:cNvSpPr txBox="1"/>
          <p:nvPr/>
        </p:nvSpPr>
        <p:spPr>
          <a:xfrm>
            <a:off x="2224875" y="1100100"/>
            <a:ext cx="5598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INFORMACIÓN NO ESTRUCTURADA DE SPOA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21709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EF697F2E-8E72-FF20-7BD5-88548151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>
            <a:extLst>
              <a:ext uri="{FF2B5EF4-FFF2-40B4-BE49-F238E27FC236}">
                <a16:creationId xmlns:a16="http://schemas.microsoft.com/office/drawing/2014/main" id="{5D90AA7A-0EEE-1C58-A85F-03A9968420B1}"/>
              </a:ext>
            </a:extLst>
          </p:cNvPr>
          <p:cNvSpPr txBox="1"/>
          <p:nvPr/>
        </p:nvSpPr>
        <p:spPr>
          <a:xfrm>
            <a:off x="2013033" y="668400"/>
            <a:ext cx="3545322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rgbClr val="017B8F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endParaRPr sz="1800" dirty="0">
              <a:solidFill>
                <a:srgbClr val="017B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39;p8">
            <a:extLst>
              <a:ext uri="{FF2B5EF4-FFF2-40B4-BE49-F238E27FC236}">
                <a16:creationId xmlns:a16="http://schemas.microsoft.com/office/drawing/2014/main" id="{CAEDAA6A-492A-DF98-85E5-1C5CEA0BAB48}"/>
              </a:ext>
            </a:extLst>
          </p:cNvPr>
          <p:cNvSpPr txBox="1"/>
          <p:nvPr/>
        </p:nvSpPr>
        <p:spPr>
          <a:xfrm>
            <a:off x="2013033" y="341086"/>
            <a:ext cx="6050263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 b="1" dirty="0">
                <a:solidFill>
                  <a:srgbClr val="00385F"/>
                </a:solidFill>
                <a:latin typeface="Montserrat"/>
                <a:ea typeface="Montserrat"/>
                <a:cs typeface="Montserrat"/>
                <a:sym typeface="Montserrat"/>
              </a:rPr>
              <a:t>ANALISIS DE DATOS</a:t>
            </a:r>
            <a:endParaRPr sz="2200" b="1" dirty="0">
              <a:solidFill>
                <a:srgbClr val="00385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8C940DB-5CB5-5649-E6CA-4CBC735DD10B}"/>
              </a:ext>
            </a:extLst>
          </p:cNvPr>
          <p:cNvSpPr txBox="1"/>
          <p:nvPr/>
        </p:nvSpPr>
        <p:spPr>
          <a:xfrm>
            <a:off x="2224875" y="1100100"/>
            <a:ext cx="559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INGRESO DE INFORMACIÓN NO ESTRUCTURADA AL CÓDIGO PYTHON</a:t>
            </a:r>
            <a:endParaRPr lang="es-CO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EC053AF-4825-2F2A-90B8-14B050FC7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875" y="1623320"/>
            <a:ext cx="5849923" cy="31790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1201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>
          <a:extLst>
            <a:ext uri="{FF2B5EF4-FFF2-40B4-BE49-F238E27FC236}">
              <a16:creationId xmlns:a16="http://schemas.microsoft.com/office/drawing/2014/main" id="{87529450-C2B1-7FD7-B151-9A2B3C4F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>
            <a:extLst>
              <a:ext uri="{FF2B5EF4-FFF2-40B4-BE49-F238E27FC236}">
                <a16:creationId xmlns:a16="http://schemas.microsoft.com/office/drawing/2014/main" id="{30A2F557-8998-4F08-A34F-0B5028E5297C}"/>
              </a:ext>
            </a:extLst>
          </p:cNvPr>
          <p:cNvSpPr txBox="1"/>
          <p:nvPr/>
        </p:nvSpPr>
        <p:spPr>
          <a:xfrm>
            <a:off x="1973275" y="668400"/>
            <a:ext cx="3545322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rgbClr val="017B8F"/>
                </a:solidFill>
                <a:latin typeface="Montserrat"/>
                <a:ea typeface="Montserrat"/>
                <a:cs typeface="Montserrat"/>
                <a:sym typeface="Montserrat"/>
              </a:rPr>
              <a:t>PYTHON</a:t>
            </a:r>
            <a:endParaRPr sz="1800" dirty="0">
              <a:solidFill>
                <a:srgbClr val="017B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39;p8">
            <a:extLst>
              <a:ext uri="{FF2B5EF4-FFF2-40B4-BE49-F238E27FC236}">
                <a16:creationId xmlns:a16="http://schemas.microsoft.com/office/drawing/2014/main" id="{B9BC72EA-758E-25E8-1C29-5FB448053C5D}"/>
              </a:ext>
            </a:extLst>
          </p:cNvPr>
          <p:cNvSpPr txBox="1"/>
          <p:nvPr/>
        </p:nvSpPr>
        <p:spPr>
          <a:xfrm>
            <a:off x="2013033" y="341086"/>
            <a:ext cx="6050263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 b="1" dirty="0">
                <a:solidFill>
                  <a:srgbClr val="00385F"/>
                </a:solidFill>
                <a:latin typeface="Montserrat"/>
                <a:ea typeface="Montserrat"/>
                <a:cs typeface="Montserrat"/>
                <a:sym typeface="Montserrat"/>
              </a:rPr>
              <a:t>ANALISIS DE DATOS</a:t>
            </a:r>
            <a:endParaRPr sz="2200" b="1" dirty="0">
              <a:solidFill>
                <a:srgbClr val="00385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21DAADF-95F2-2813-4DCD-6E6DC85E58E6}"/>
              </a:ext>
            </a:extLst>
          </p:cNvPr>
          <p:cNvSpPr txBox="1"/>
          <p:nvPr/>
        </p:nvSpPr>
        <p:spPr>
          <a:xfrm>
            <a:off x="2013033" y="1100100"/>
            <a:ext cx="5810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INFORMACIÓN ENTREGADA  ESTRUCTURADA EN COLUMNAS EN HOJA DE CALCULO DISPONIBLE EN SHAREPOINT</a:t>
            </a:r>
            <a:endParaRPr lang="es-CO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75FE53-F679-22A5-A3C3-0225624C8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033" y="1690256"/>
            <a:ext cx="3115961" cy="31121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3A9B394-FCAC-5280-BACC-93F51E01E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236" y="1690256"/>
            <a:ext cx="2974060" cy="31121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934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26D7B-8029-6632-9D47-B76DA2901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Elipse 149">
            <a:extLst>
              <a:ext uri="{FF2B5EF4-FFF2-40B4-BE49-F238E27FC236}">
                <a16:creationId xmlns:a16="http://schemas.microsoft.com/office/drawing/2014/main" id="{7186ACAD-FB2A-148B-E6A0-06193E8EB1C2}"/>
              </a:ext>
            </a:extLst>
          </p:cNvPr>
          <p:cNvSpPr/>
          <p:nvPr/>
        </p:nvSpPr>
        <p:spPr>
          <a:xfrm>
            <a:off x="-1818407" y="5025664"/>
            <a:ext cx="70793" cy="70793"/>
          </a:xfrm>
          <a:prstGeom prst="ellipse">
            <a:avLst/>
          </a:prstGeom>
          <a:gradFill>
            <a:gsLst>
              <a:gs pos="0">
                <a:srgbClr val="92D050"/>
              </a:gs>
              <a:gs pos="95000">
                <a:srgbClr val="C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050">
              <a:solidFill>
                <a:prstClr val="white"/>
              </a:solidFill>
            </a:endParaRPr>
          </a:p>
        </p:txBody>
      </p:sp>
      <p:sp>
        <p:nvSpPr>
          <p:cNvPr id="8" name="Google Shape;39;p8">
            <a:extLst>
              <a:ext uri="{FF2B5EF4-FFF2-40B4-BE49-F238E27FC236}">
                <a16:creationId xmlns:a16="http://schemas.microsoft.com/office/drawing/2014/main" id="{11BE1839-40C6-BE36-9739-735A2F8BCC0B}"/>
              </a:ext>
            </a:extLst>
          </p:cNvPr>
          <p:cNvSpPr txBox="1"/>
          <p:nvPr/>
        </p:nvSpPr>
        <p:spPr>
          <a:xfrm>
            <a:off x="1973274" y="341925"/>
            <a:ext cx="6050263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 b="1" dirty="0">
                <a:solidFill>
                  <a:srgbClr val="00385F"/>
                </a:solidFill>
                <a:latin typeface="Montserrat"/>
                <a:ea typeface="Montserrat"/>
                <a:cs typeface="Montserrat"/>
                <a:sym typeface="Montserrat"/>
              </a:rPr>
              <a:t>MODELOS DE INFORME</a:t>
            </a:r>
            <a:endParaRPr sz="2200" b="1" dirty="0">
              <a:solidFill>
                <a:srgbClr val="00385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0;p8">
            <a:extLst>
              <a:ext uri="{FF2B5EF4-FFF2-40B4-BE49-F238E27FC236}">
                <a16:creationId xmlns:a16="http://schemas.microsoft.com/office/drawing/2014/main" id="{27E72D4A-426E-FA40-007D-A2685FD0B73D}"/>
              </a:ext>
            </a:extLst>
          </p:cNvPr>
          <p:cNvSpPr txBox="1"/>
          <p:nvPr/>
        </p:nvSpPr>
        <p:spPr>
          <a:xfrm>
            <a:off x="1973275" y="668400"/>
            <a:ext cx="3545322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>
                <a:solidFill>
                  <a:srgbClr val="017B8F"/>
                </a:solidFill>
                <a:latin typeface="Montserrat"/>
                <a:ea typeface="Montserrat"/>
                <a:cs typeface="Montserrat"/>
                <a:sym typeface="Montserrat"/>
              </a:rPr>
              <a:t>Sección de Análisis Criminal</a:t>
            </a:r>
            <a:endParaRPr sz="1800" dirty="0">
              <a:solidFill>
                <a:srgbClr val="017B8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EDC84FC-0454-160A-E2B2-950EA9AFEBF3}"/>
              </a:ext>
            </a:extLst>
          </p:cNvPr>
          <p:cNvSpPr/>
          <p:nvPr/>
        </p:nvSpPr>
        <p:spPr>
          <a:xfrm>
            <a:off x="2049595" y="1574288"/>
            <a:ext cx="1974079" cy="431701"/>
          </a:xfrm>
          <a:prstGeom prst="roundRect">
            <a:avLst>
              <a:gd name="adj" fmla="val 923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ES_tradnl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66214CF-405B-32B5-42BC-AC208D62B373}"/>
              </a:ext>
            </a:extLst>
          </p:cNvPr>
          <p:cNvSpPr txBox="1"/>
          <p:nvPr/>
        </p:nvSpPr>
        <p:spPr>
          <a:xfrm>
            <a:off x="2227912" y="1688648"/>
            <a:ext cx="1636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/>
              <a:t>GRUPO DE ANALISTAS</a:t>
            </a:r>
            <a:endParaRPr lang="es-CO" sz="1000" dirty="0"/>
          </a:p>
        </p:txBody>
      </p:sp>
    </p:spTree>
    <p:extLst>
      <p:ext uri="{BB962C8B-B14F-4D97-AF65-F5344CB8AC3E}">
        <p14:creationId xmlns:p14="http://schemas.microsoft.com/office/powerpoint/2010/main" val="3539521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/>
        </p:nvSpPr>
        <p:spPr>
          <a:xfrm>
            <a:off x="2397725" y="3232175"/>
            <a:ext cx="3774600" cy="4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Sección de Análisis Criminal SAC Bogotá</a:t>
            </a:r>
            <a:endParaRPr b="1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3456</TotalTime>
  <Words>140</Words>
  <Application>Microsoft Office PowerPoint</Application>
  <PresentationFormat>Presentación en pantalla (16:9)</PresentationFormat>
  <Paragraphs>49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Montserrat</vt:lpstr>
      <vt:lpstr>Roboto</vt:lpstr>
      <vt:lpstr>Century Gothic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Jaime Hernan Potosi Sanchez</dc:creator>
  <cp:lastModifiedBy>Diego Dario Perez Galindo</cp:lastModifiedBy>
  <cp:revision>31</cp:revision>
  <dcterms:modified xsi:type="dcterms:W3CDTF">2026-03-09T15:26:46Z</dcterms:modified>
</cp:coreProperties>
</file>